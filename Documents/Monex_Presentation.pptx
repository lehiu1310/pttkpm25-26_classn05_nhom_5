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 type="screen16x9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  <Relationship Id="rId5" Type="http://schemas.openxmlformats.org/officeDocument/2006/relationships/slide" Target="slides/slide4.xml"/>
  <Relationship Id="rId6" Type="http://schemas.openxmlformats.org/officeDocument/2006/relationships/slide" Target="slides/slide5.xml"/>
  <Relationship Id="rId7" Type="http://schemas.openxmlformats.org/officeDocument/2006/relationships/slide" Target="slides/slide6.xml"/>
  <Relationship Id="rId8" Type="http://schemas.openxmlformats.org/officeDocument/2006/relationships/slide" Target="slides/slide7.xml"/>
  <Relationship Id="rId9" Type="http://schemas.openxmlformats.org/officeDocument/2006/relationships/slide" Target="slides/slide8.xml"/>
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Accent"/>
          <p:cNvSpPr/>
          <p:nvPr/>
        </p:nvSpPr>
        <p:spPr>
          <a:xfrm>
            <a:off x="0" y="0"/>
            <a:ext cx="420000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2" name="TextBox 2"/>
          <p:cNvSpPr txBox="1"/>
          <p:nvPr/>
        </p:nvSpPr>
        <p:spPr>
          <a:xfrm>
            <a:off x="650000" y="520000"/>
            <a:ext cx="8200000" cy="6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vi-VN" sz="3600" b="1">
                <a:solidFill>
                  <a:srgbClr val="0F172A"/>
                </a:solidFill>
              </a:rPr>
              <a:t>Monex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00000" y="1450000"/>
            <a:ext cx="8200000" cy="4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vi-VN" sz="2200" b="0">
                <a:solidFill>
                  <a:srgbClr val="0F172A"/>
                </a:solidFill>
              </a:rPr>
              <a:t>? ?ng d?ng qu?n l? t?i ch?nh c? nh?n tr?n Android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00000" y="2010000"/>
            <a:ext cx="8200000" cy="4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vi-VN" sz="2200" b="0">
                <a:solidFill>
                  <a:srgbClr val="0F172A"/>
                </a:solidFill>
              </a:rPr>
              <a:t>? B?i t?p l?n h?c ph?n Ph?n t?ch v? Thi?t k? Ph?n m?m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00000" y="2570000"/>
            <a:ext cx="8200000" cy="4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vi-VN" sz="2200" b="0">
                <a:solidFill>
                  <a:srgbClr val="0F172A"/>
                </a:solidFill>
              </a:rPr>
              <a:t>? X?y d?ng b?ng Flutter v? Dart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Accent"/>
          <p:cNvSpPr/>
          <p:nvPr/>
        </p:nvSpPr>
        <p:spPr>
          <a:xfrm>
            <a:off x="0" y="0"/>
            <a:ext cx="420000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2" name="TextBox 2"/>
          <p:cNvSpPr txBox="1"/>
          <p:nvPr/>
        </p:nvSpPr>
        <p:spPr>
          <a:xfrm>
            <a:off x="650000" y="520000"/>
            <a:ext cx="8200000" cy="6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vi-VN" sz="3600" b="1">
                <a:solidFill>
                  <a:srgbClr val="0F172A"/>
                </a:solidFill>
              </a:rPr>
              <a:t>B?i to?n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00000" y="1450000"/>
            <a:ext cx="8200000" cy="4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vi-VN" sz="2200" b="0">
                <a:solidFill>
                  <a:srgbClr val="0F172A"/>
                </a:solidFill>
              </a:rPr>
              <a:t>? Ng??i d?ng kh? theo d?i ti?n v?o, ti?n ra h?ng th?ng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00000" y="2010000"/>
            <a:ext cx="8200000" cy="4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vi-VN" sz="2200" b="0">
                <a:solidFill>
                  <a:srgbClr val="0F172A"/>
                </a:solidFill>
              </a:rPr>
              <a:t>? D? li?u chi ti?u d? b? l?n khi nhi?u t?i kho?n d?ng chung app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00000" y="2570000"/>
            <a:ext cx="8200000" cy="4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vi-VN" sz="2200" b="0">
                <a:solidFill>
                  <a:srgbClr val="0F172A"/>
                </a:solidFill>
              </a:rPr>
              <a:t>? C?n th?ng k?, nh?c h?a ??n v? g?i ? ng?n s?ch r? r?ng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Accent"/>
          <p:cNvSpPr/>
          <p:nvPr/>
        </p:nvSpPr>
        <p:spPr>
          <a:xfrm>
            <a:off x="0" y="0"/>
            <a:ext cx="420000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2" name="TextBox 2"/>
          <p:cNvSpPr txBox="1"/>
          <p:nvPr/>
        </p:nvSpPr>
        <p:spPr>
          <a:xfrm>
            <a:off x="650000" y="520000"/>
            <a:ext cx="8200000" cy="6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vi-VN" sz="3600" b="1">
                <a:solidFill>
                  <a:srgbClr val="0F172A"/>
                </a:solidFill>
              </a:rPr>
              <a:t>M?c ti?u s?n ph?m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00000" y="1450000"/>
            <a:ext cx="8200000" cy="4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vi-VN" sz="2200" b="0">
                <a:solidFill>
                  <a:srgbClr val="0F172A"/>
                </a:solidFill>
              </a:rPr>
              <a:t>? Ghi nh?n thu nh?p, chi ph?, ti?t ki?m v? h?a ??n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00000" y="2010000"/>
            <a:ext cx="8200000" cy="4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vi-VN" sz="2200" b="0">
                <a:solidFill>
                  <a:srgbClr val="0F172A"/>
                </a:solidFill>
              </a:rPr>
              <a:t>? Th?ng k? ??ng theo th?ng/n?m v? danh m?c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00000" y="2570000"/>
            <a:ext cx="8200000" cy="4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vi-VN" sz="2200" b="0">
                <a:solidFill>
                  <a:srgbClr val="0F172A"/>
                </a:solidFill>
              </a:rPr>
              <a:t>? T?ch d? li?u ri?ng cho t?ng t?i kho?n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00000" y="3130000"/>
            <a:ext cx="8200000" cy="4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vi-VN" sz="2200" b="0">
                <a:solidFill>
                  <a:srgbClr val="0F172A"/>
                </a:solidFill>
              </a:rPr>
              <a:t>? Cung c?p tr? l? chi ti?u d?a tr?n d? li?u th?c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Accent"/>
          <p:cNvSpPr/>
          <p:nvPr/>
        </p:nvSpPr>
        <p:spPr>
          <a:xfrm>
            <a:off x="0" y="0"/>
            <a:ext cx="420000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2" name="TextBox 2"/>
          <p:cNvSpPr txBox="1"/>
          <p:nvPr/>
        </p:nvSpPr>
        <p:spPr>
          <a:xfrm>
            <a:off x="650000" y="520000"/>
            <a:ext cx="8200000" cy="6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vi-VN" sz="3600" b="1">
                <a:solidFill>
                  <a:srgbClr val="0F172A"/>
                </a:solidFill>
              </a:rPr>
              <a:t>Ch?c n?ng ch?nh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00000" y="1450000"/>
            <a:ext cx="8200000" cy="4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vi-VN" sz="2200" b="0">
                <a:solidFill>
                  <a:srgbClr val="0F172A"/>
                </a:solidFill>
              </a:rPr>
              <a:t>? ??ng k?, ??ng nh?p, ??ng xu?t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00000" y="2010000"/>
            <a:ext cx="8200000" cy="4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vi-VN" sz="2200" b="0">
                <a:solidFill>
                  <a:srgbClr val="0F172A"/>
                </a:solidFill>
              </a:rPr>
              <a:t>? Th?m thu nh?p, chi ph? v? danh m?c ph?t sinh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00000" y="2570000"/>
            <a:ext cx="8200000" cy="4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vi-VN" sz="2200" b="0">
                <a:solidFill>
                  <a:srgbClr val="0F172A"/>
                </a:solidFill>
              </a:rPr>
              <a:t>? Qu?n l? ti?t ki?m theo m?c ti?u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00000" y="3130000"/>
            <a:ext cx="8200000" cy="4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vi-VN" sz="2200" b="0">
                <a:solidFill>
                  <a:srgbClr val="0F172A"/>
                </a:solidFill>
              </a:rPr>
              <a:t>? Qu?n l? h?a ??n, l?i nh?c v? tr?ng th?i thanh to?n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00000" y="3690000"/>
            <a:ext cx="8200000" cy="4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vi-VN" sz="2200" b="0">
                <a:solidFill>
                  <a:srgbClr val="0F172A"/>
                </a:solidFill>
              </a:rPr>
              <a:t>? Xu?t b?o c?o PDF/Excel ? m?c demo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Accent"/>
          <p:cNvSpPr/>
          <p:nvPr/>
        </p:nvSpPr>
        <p:spPr>
          <a:xfrm>
            <a:off x="0" y="0"/>
            <a:ext cx="420000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2" name="TextBox 2"/>
          <p:cNvSpPr txBox="1"/>
          <p:nvPr/>
        </p:nvSpPr>
        <p:spPr>
          <a:xfrm>
            <a:off x="650000" y="520000"/>
            <a:ext cx="8200000" cy="6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vi-VN" sz="3600" b="1">
                <a:solidFill>
                  <a:srgbClr val="0F172A"/>
                </a:solidFill>
              </a:rPr>
              <a:t>Tr? l? chi ti?u / AI Rule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00000" y="1450000"/>
            <a:ext cx="8200000" cy="4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vi-VN" sz="2200" b="0">
                <a:solidFill>
                  <a:srgbClr val="0F172A"/>
                </a:solidFill>
              </a:rPr>
              <a:t>? D? ?o?n xu h??ng chi ti?u th?ng t?i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00000" y="2010000"/>
            <a:ext cx="8200000" cy="4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vi-VN" sz="2200" b="0">
                <a:solidFill>
                  <a:srgbClr val="0F172A"/>
                </a:solidFill>
              </a:rPr>
              <a:t>? Ph?t hi?n giao d?ch b?t th??ng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00000" y="2570000"/>
            <a:ext cx="8200000" cy="4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vi-VN" sz="2200" b="0">
                <a:solidFill>
                  <a:srgbClr val="0F172A"/>
                </a:solidFill>
              </a:rPr>
              <a:t>? C?nh b?o khi v??t ng?n s?ch ho?c v??t thu nh?p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00000" y="3130000"/>
            <a:ext cx="8200000" cy="4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vi-VN" sz="2200" b="0">
                <a:solidFill>
                  <a:srgbClr val="0F172A"/>
                </a:solidFill>
              </a:rPr>
              <a:t>? G?i ? ng?n s?ch theo l?ch s? thu chi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Accent"/>
          <p:cNvSpPr/>
          <p:nvPr/>
        </p:nvSpPr>
        <p:spPr>
          <a:xfrm>
            <a:off x="0" y="0"/>
            <a:ext cx="420000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2" name="TextBox 2"/>
          <p:cNvSpPr txBox="1"/>
          <p:nvPr/>
        </p:nvSpPr>
        <p:spPr>
          <a:xfrm>
            <a:off x="650000" y="520000"/>
            <a:ext cx="8200000" cy="6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vi-VN" sz="3600" b="1">
                <a:solidFill>
                  <a:srgbClr val="0F172A"/>
                </a:solidFill>
              </a:rPr>
              <a:t>Ki?n tr?c h? th?ng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00000" y="1450000"/>
            <a:ext cx="8200000" cy="4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vi-VN" sz="2200" b="0">
                <a:solidFill>
                  <a:srgbClr val="0F172A"/>
                </a:solidFill>
              </a:rPr>
              <a:t>? UI Layer: screens, widgets, theme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00000" y="2010000"/>
            <a:ext cx="8200000" cy="4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vi-VN" sz="2200" b="0">
                <a:solidFill>
                  <a:srgbClr val="0F172A"/>
                </a:solidFill>
              </a:rPr>
              <a:t>? State Layer: MonexAppState v? AccountLedger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00000" y="2570000"/>
            <a:ext cx="8200000" cy="4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vi-VN" sz="2200" b="0">
                <a:solidFill>
                  <a:srgbClr val="0F172A"/>
                </a:solidFill>
              </a:rPr>
              <a:t>? Service Layer: notification, insight, AI Rule, report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00000" y="3130000"/>
            <a:ext cx="8200000" cy="4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vi-VN" sz="2200" b="0">
                <a:solidFill>
                  <a:srgbClr val="0F172A"/>
                </a:solidFill>
              </a:rPr>
              <a:t>? Local Storage: SharedPreferences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Accent"/>
          <p:cNvSpPr/>
          <p:nvPr/>
        </p:nvSpPr>
        <p:spPr>
          <a:xfrm>
            <a:off x="0" y="0"/>
            <a:ext cx="420000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2" name="TextBox 2"/>
          <p:cNvSpPr txBox="1"/>
          <p:nvPr/>
        </p:nvSpPr>
        <p:spPr>
          <a:xfrm>
            <a:off x="650000" y="520000"/>
            <a:ext cx="8200000" cy="6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vi-VN" sz="3600" b="1">
                <a:solidFill>
                  <a:srgbClr val="0F172A"/>
                </a:solidFill>
              </a:rPr>
              <a:t>T? ch?c GitHub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00000" y="1450000"/>
            <a:ext cx="8200000" cy="4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vi-VN" sz="2200" b="0">
                <a:solidFill>
                  <a:srgbClr val="0F172A"/>
                </a:solidFill>
              </a:rPr>
              <a:t>? Documents: Plan, SRS, Weekly Report, Report, Slide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00000" y="2010000"/>
            <a:ext cx="8200000" cy="4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vi-VN" sz="2200" b="0">
                <a:solidFill>
                  <a:srgbClr val="0F172A"/>
                </a:solidFill>
              </a:rPr>
              <a:t>? Design: Architecture, Program Design, Data Design, Sketch, draw.io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00000" y="2570000"/>
            <a:ext cx="8200000" cy="4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vi-VN" sz="2200" b="0">
                <a:solidFill>
                  <a:srgbClr val="0F172A"/>
                </a:solidFill>
              </a:rPr>
              <a:t>? SRC: m?c l?c source code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00000" y="3130000"/>
            <a:ext cx="8200000" cy="4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vi-VN" sz="2200" b="0">
                <a:solidFill>
                  <a:srgbClr val="0F172A"/>
                </a:solidFill>
              </a:rPr>
              <a:t>? Root project: lib, android, pubspec.yaml, test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Accent"/>
          <p:cNvSpPr/>
          <p:nvPr/>
        </p:nvSpPr>
        <p:spPr>
          <a:xfrm>
            <a:off x="0" y="0"/>
            <a:ext cx="420000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2" name="TextBox 2"/>
          <p:cNvSpPr txBox="1"/>
          <p:nvPr/>
        </p:nvSpPr>
        <p:spPr>
          <a:xfrm>
            <a:off x="650000" y="520000"/>
            <a:ext cx="8200000" cy="6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vi-VN" sz="3600" b="1">
                <a:solidFill>
                  <a:srgbClr val="0F172A"/>
                </a:solidFill>
              </a:rPr>
              <a:t>K?t qu?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00000" y="1450000"/>
            <a:ext cx="8200000" cy="4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vi-VN" sz="2200" b="0">
                <a:solidFill>
                  <a:srgbClr val="0F172A"/>
                </a:solidFill>
              </a:rPr>
              <a:t>? App ch?y ???c tr?n Android Emulator/Android Studio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00000" y="2010000"/>
            <a:ext cx="8200000" cy="4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vi-VN" sz="2200" b="0">
                <a:solidFill>
                  <a:srgbClr val="0F172A"/>
                </a:solidFill>
              </a:rPr>
              <a:t>? C?c ch?c n?ng ch?nh ?? ho?n thi?n ? m?c demo h?c ph?n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00000" y="2570000"/>
            <a:ext cx="8200000" cy="4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vi-VN" sz="2200" b="0">
                <a:solidFill>
                  <a:srgbClr val="0F172A"/>
                </a:solidFill>
              </a:rPr>
              <a:t>? Repository c? README, CHANGELOG, t?i li?u, source code v? b?o c?o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00000" y="3130000"/>
            <a:ext cx="8200000" cy="43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vi-VN" sz="2200" b="0">
                <a:solidFill>
                  <a:srgbClr val="0F172A"/>
                </a:solidFill>
              </a:rPr>
              <a:t>? C? th? m? r?ng backend, cloud sync v? AI online trong t??ng lai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onex Theme">
  <a:themeElements>
    <a:clrScheme name="Monex">
      <a:dk1>
        <a:srgbClr val="0F172A"/>
      </a:dk1>
      <a:lt1>
        <a:srgbClr val="FFFFFF"/>
      </a:lt1>
      <a:dk2>
        <a:srgbClr val="0F766E"/>
      </a:dk2>
      <a:lt2>
        <a:srgbClr val="F8FAFC"/>
      </a:lt2>
      <a:accent1>
        <a:srgbClr val="0F766E"/>
      </a:accent1>
      <a:accent2>
        <a:srgbClr val="2563EB"/>
      </a:accent2>
      <a:accent3>
        <a:srgbClr val="D97706"/>
      </a:accent3>
      <a:accent4>
        <a:srgbClr val="DC2626"/>
      </a:accent4>
      <a:accent5>
        <a:srgbClr val="0891B2"/>
      </a:accent5>
      <a:accent6>
        <a:srgbClr val="16A34A"/>
      </a:accent6>
      <a:hlink>
        <a:srgbClr val="2563EB"/>
      </a:hlink>
      <a:folHlink>
        <a:srgbClr val="7C3AED"/>
      </a:folHlink>
    </a:clrScheme>
    <a:fontScheme name="Monex">
      <a:majorFont>
        <a:latin typeface="Segoe UI"/>
      </a:majorFont>
      <a:minorFont>
        <a:latin typeface="Segoe UI"/>
      </a:minorFont>
    </a:fontScheme>
    <a:fmtScheme name="Monex">
      <a:fillStyleLst/>
      <a:lnStyleLst/>
      <a:effectStyleLst/>
      <a:bgFillStyleLst/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</Application>
  <Slides>8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Monex Presentation</dc:title>
  <dc:creator>Monex Team</dc:creator>
  <cp:lastModifiedBy>Monex Team</cp:lastModifiedBy>
</cp:coreProperties>
</file>